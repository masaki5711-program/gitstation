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5486400" cy="19133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B2A44"/>
                </a:solidFill>
                <a:latin typeface="Meiryo UI"/>
                <a:ea typeface="Meiryo UI"/>
              </a:rPr>
              <a:t>完成形の計画の全体像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575"/>
                </a:solidFill>
                <a:latin typeface="Meiryo UI"/>
                <a:ea typeface="Meiryo UI"/>
              </a:rPr>
              <a:t>GitStation・Kanflow・エージェントモデル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575"/>
                </a:solidFill>
                <a:latin typeface="Meiryo UI"/>
                <a:ea typeface="Meiryo UI"/>
              </a:rPr>
              <a:t>複数人のバイブコーディングで、速く、壊れにくく開発する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575"/>
                </a:solidFill>
                <a:latin typeface="Meiryo UI"/>
                <a:ea typeface="Meiryo UI"/>
              </a:rPr>
              <a:t>2026-10-31　出典: GitStation docs/plan/01〜07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2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eiryo UI"/>
                <a:ea typeface="Meiryo UI"/>
              </a:rPr>
              <a:t>目的と完成形</a:t>
            </a:r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3716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575"/>
                </a:solidFill>
                <a:latin typeface="Meiryo UI"/>
                <a:ea typeface="Meiryo UI"/>
              </a:rPr>
              <a:t>社内で閉じた環境で、複数の開発者と複数の AI セッションが同時に、PBI から本番まで速く安全に進める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103120" cy="2377440"/>
          </a:xfrm>
          <a:prstGeom prst="round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eiryo UI"/>
                <a:ea typeface="Meiryo UI"/>
              </a:rPr>
              <a:t>計画→実装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Meiryo UI"/>
                <a:ea typeface="Meiryo UI"/>
              </a:rPr>
              <a:t>Claude Code が PBI と受入基準を読み、タスク化・作業の宣言・並行実装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828800"/>
            <a:ext cx="2103120" cy="2377440"/>
          </a:xfrm>
          <a:prstGeom prst="roundRect">
            <a:avLst/>
          </a:prstGeom>
          <a:solidFill>
            <a:srgbClr val="22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eiryo UI"/>
                <a:ea typeface="Meiryo UI"/>
              </a:rPr>
              <a:t>実装→マージ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Meiryo UI"/>
                <a:ea typeface="Meiryo UI"/>
              </a:rPr>
              <a:t>GitStation に push → パイプライン → MR → マージキュー → 自動マージ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828800"/>
            <a:ext cx="2103120" cy="2377440"/>
          </a:xfrm>
          <a:prstGeom prst="roundRect">
            <a:avLst/>
          </a:prstGeom>
          <a:solidFill>
            <a:srgbClr val="128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eiryo UI"/>
                <a:ea typeface="Meiryo UI"/>
              </a:rPr>
              <a:t>マージ→本番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Meiryo UI"/>
                <a:ea typeface="Meiryo UI"/>
              </a:rPr>
              <a:t>人の承認で社内サーバーへデプロイ → Kanflow のリリースに反映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828800"/>
            <a:ext cx="2103120" cy="2377440"/>
          </a:xfrm>
          <a:prstGeom prst="roundRect">
            <a:avLst/>
          </a:prstGeom>
          <a:solidFill>
            <a:srgbClr val="1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eiryo UI"/>
                <a:ea typeface="Meiryo UI"/>
              </a:rPr>
              <a:t>品質と安全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Meiryo UI"/>
                <a:ea typeface="Meiryo UI"/>
              </a:rPr>
              <a:t>エラーの契約・権限の一点の判断・独立レビュー・危険の検査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1828800"/>
            <a:ext cx="2103120" cy="2377440"/>
          </a:xfrm>
          <a:prstGeom prst="round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eiryo UI"/>
                <a:ea typeface="Meiryo UI"/>
              </a:rPr>
              <a:t>学習と再発防止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Meiryo UI"/>
                <a:ea typeface="Meiryo UI"/>
              </a:rPr>
              <a:t>失敗と直し方を Kanflow に集め、再発したら仕組みに変える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72000"/>
            <a:ext cx="11247120" cy="1463040"/>
          </a:xfrm>
          <a:prstGeom prst="roundRect">
            <a:avLst/>
          </a:prstGeom>
          <a:solidFill>
            <a:srgbClr val="F4FBFC"/>
          </a:solidFill>
          <a:ln w="19050">
            <a:solidFill>
              <a:srgbClr val="F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B2A44"/>
                </a:solidFill>
                <a:latin typeface="Meiryo UI"/>
                <a:ea typeface="Meiryo UI"/>
              </a:rPr>
              <a:t>「完全無敵」の定義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1B2A44"/>
                </a:solidFill>
                <a:latin typeface="Meiryo UI"/>
                <a:ea typeface="Meiryo UI"/>
              </a:rPr>
              <a:t>どれか 1 つの仕組みが外れても、ほかの仕組みが止める（多層の防御）。壊れたら数分で気づき、記録から原因が分かる。失敗はゼロにできないので数値で測る。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eiryo UI"/>
                <a:ea typeface="Meiryo UI"/>
              </a:rPr>
              <a:t>全体の構成</a:t>
            </a:r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3716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575"/>
                </a:solidFill>
                <a:latin typeface="Meiryo UI"/>
                <a:ea typeface="Meiryo UI"/>
              </a:rPr>
              <a:t>すべて社内（オンプレ）で動く。AI は開発者の Claude Code と、サーバー側のローカル LLM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34747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B2A44"/>
                </a:solidFill>
                <a:latin typeface="Meiryo UI"/>
                <a:ea typeface="Meiryo UI"/>
              </a:rPr>
              <a:t>開発者の PC（複数人）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4"/>
                </a:solidFill>
                <a:latin typeface="Meiryo UI"/>
                <a:ea typeface="Meiryo UI"/>
              </a:rPr>
              <a:t>・Claude Code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4"/>
                </a:solidFill>
                <a:latin typeface="Meiryo UI"/>
                <a:ea typeface="Meiryo UI"/>
              </a:rPr>
              <a:t>・TMUX 版（並行）/ Ver2（単独）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4"/>
                </a:solidFill>
                <a:latin typeface="Meiryo UI"/>
                <a:ea typeface="Meiryo UI"/>
              </a:rPr>
              <a:t>・共通プラグイン ymma-dev-core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747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B2A44"/>
                </a:solidFill>
                <a:latin typeface="Meiryo UI"/>
                <a:ea typeface="Meiryo UI"/>
              </a:rPr>
              <a:t>Kanflow（PM）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4"/>
                </a:solidFill>
                <a:latin typeface="Meiryo UI"/>
                <a:ea typeface="Meiryo UI"/>
              </a:rPr>
              <a:t>・バックログ / スプリント / タスク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4"/>
                </a:solidFill>
                <a:latin typeface="Meiryo UI"/>
                <a:ea typeface="Meiryo UI"/>
              </a:rPr>
              <a:t>・MCP・作業の宣言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4"/>
                </a:solidFill>
                <a:latin typeface="Meiryo UI"/>
                <a:ea typeface="Meiryo UI"/>
              </a:rPr>
              <a:t>・触る範囲・受入基準の ID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4"/>
                </a:solidFill>
                <a:latin typeface="Meiryo UI"/>
                <a:ea typeface="Meiryo UI"/>
              </a:rPr>
              <a:t>・フィードバックの輪（教訓）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4"/>
                </a:solidFill>
                <a:latin typeface="Meiryo UI"/>
                <a:ea typeface="Meiryo UI"/>
              </a:rPr>
              <a:t>・リリース / リリースノート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645920"/>
            <a:ext cx="34747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B2A44"/>
                </a:solidFill>
                <a:latin typeface="Meiryo UI"/>
                <a:ea typeface="Meiryo UI"/>
              </a:rPr>
              <a:t>GitStation（Git 基盤）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4"/>
                </a:solidFill>
                <a:latin typeface="Meiryo UI"/>
                <a:ea typeface="Meiryo UI"/>
              </a:rPr>
              <a:t>・clone / push・MR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4"/>
                </a:solidFill>
                <a:latin typeface="Meiryo UI"/>
                <a:ea typeface="Meiryo UI"/>
              </a:rPr>
              <a:t>・CI/CD・マージキュー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4"/>
                </a:solidFill>
                <a:latin typeface="Meiryo UI"/>
                <a:ea typeface="Meiryo UI"/>
              </a:rPr>
              <a:t>・自動マージ（4 方式）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4"/>
                </a:solidFill>
                <a:latin typeface="Meiryo UI"/>
                <a:ea typeface="Meiryo UI"/>
              </a:rPr>
              <a:t>・危険の検査・監査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4"/>
                </a:solidFill>
                <a:latin typeface="Meiryo UI"/>
                <a:ea typeface="Meiryo UI"/>
              </a:rPr>
              <a:t>・仕様書の版の管理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5257800"/>
            <a:ext cx="3474720" cy="1188720"/>
          </a:xfrm>
          <a:prstGeom prst="roundRect">
            <a:avLst/>
          </a:prstGeom>
          <a:solidFill>
            <a:srgbClr val="1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 UI"/>
                <a:ea typeface="Meiryo UI"/>
              </a:rPr>
              <a:t>ローカル LLM（Qwen）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Meiryo UI"/>
                <a:ea typeface="Meiryo UI"/>
              </a:rPr>
              <a:t>仕様照合・要約・下書き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5257800"/>
            <a:ext cx="3474720" cy="1188720"/>
          </a:xfrm>
          <a:prstGeom prst="roundRect">
            <a:avLst/>
          </a:prstGeom>
          <a:solidFill>
            <a:srgbClr val="1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 UI"/>
                <a:ea typeface="Meiryo UI"/>
              </a:rPr>
              <a:t>社内のアプリサーバー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Meiryo UI"/>
                <a:ea typeface="Meiryo UI"/>
              </a:rPr>
              <a:t>dev / stg / prod（本番は人の承認）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80" y="2377440"/>
            <a:ext cx="548640" cy="0"/>
          </a:xfrm>
          <a:prstGeom prst="line">
            <a:avLst/>
          </a:prstGeom>
          <a:ln w="28575">
            <a:solidFill>
              <a:srgbClr val="1B2A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40480" y="19659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44"/>
                </a:solidFill>
                <a:latin typeface="Meiryo UI"/>
                <a:ea typeface="Meiryo UI"/>
              </a:rPr>
              <a:t>MCP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0" y="4754880"/>
            <a:ext cx="4572000" cy="0"/>
          </a:xfrm>
          <a:prstGeom prst="line">
            <a:avLst/>
          </a:prstGeom>
          <a:ln w="28575">
            <a:solidFill>
              <a:srgbClr val="1B2A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937760" y="477316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44"/>
                </a:solidFill>
                <a:latin typeface="Meiryo UI"/>
                <a:ea typeface="Meiryo UI"/>
              </a:rPr>
              <a:t>git push / MR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7863840" y="2926080"/>
            <a:ext cx="548640" cy="0"/>
          </a:xfrm>
          <a:prstGeom prst="line">
            <a:avLst/>
          </a:prstGeom>
          <a:ln w="28575">
            <a:solidFill>
              <a:srgbClr val="1B2A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18120" y="25146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44"/>
                </a:solidFill>
                <a:latin typeface="Meiryo UI"/>
                <a:ea typeface="Meiryo UI"/>
              </a:rPr>
              <a:t>イベント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149840" y="4572000"/>
            <a:ext cx="0" cy="685800"/>
          </a:xfrm>
          <a:prstGeom prst="line">
            <a:avLst/>
          </a:prstGeom>
          <a:ln w="28575">
            <a:solidFill>
              <a:srgbClr val="1B2A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26480" y="4572000"/>
            <a:ext cx="0" cy="685800"/>
          </a:xfrm>
          <a:prstGeom prst="line">
            <a:avLst/>
          </a:prstGeom>
          <a:ln w="28575">
            <a:solidFill>
              <a:srgbClr val="1B2A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eiryo UI"/>
                <a:ea typeface="Meiryo UI"/>
              </a:rPr>
              <a:t>開発の流れ：PBI から本番まで</a:t>
            </a:r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3716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575"/>
                </a:solidFill>
                <a:latin typeface="Meiryo UI"/>
                <a:ea typeface="Meiryo UI"/>
              </a:rPr>
              <a:t>人が判断するのは 4 か所だけ（オレンジの丸）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1737360" cy="1371600"/>
          </a:xfrm>
          <a:prstGeom prst="round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eiryo UI"/>
                <a:ea typeface="Meiryo UI"/>
              </a:rPr>
              <a:t>① 計画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Meiryo UI"/>
                <a:ea typeface="Meiryo UI"/>
              </a:rPr>
              <a:t>PBI・受入基準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03120" y="2514600"/>
            <a:ext cx="228600" cy="0"/>
          </a:xfrm>
          <a:prstGeom prst="line">
            <a:avLst/>
          </a:prstGeom>
          <a:ln w="28575">
            <a:solidFill>
              <a:srgbClr val="1B2A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31720" y="1828800"/>
            <a:ext cx="1737360" cy="1371600"/>
          </a:xfrm>
          <a:prstGeom prst="round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eiryo UI"/>
                <a:ea typeface="Meiryo UI"/>
              </a:rPr>
              <a:t>② 分担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Meiryo UI"/>
                <a:ea typeface="Meiryo UI"/>
              </a:rPr>
              <a:t>タスク化・作業の宣言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69079" y="2514600"/>
            <a:ext cx="228600" cy="0"/>
          </a:xfrm>
          <a:prstGeom prst="line">
            <a:avLst/>
          </a:prstGeom>
          <a:ln w="28575">
            <a:solidFill>
              <a:srgbClr val="1B2A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97680" y="1828800"/>
            <a:ext cx="1737360" cy="1371600"/>
          </a:xfrm>
          <a:prstGeom prst="roundRect">
            <a:avLst/>
          </a:prstGeom>
          <a:solidFill>
            <a:srgbClr val="1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eiryo UI"/>
                <a:ea typeface="Meiryo UI"/>
              </a:rPr>
              <a:t>③ 実装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Meiryo UI"/>
                <a:ea typeface="Meiryo UI"/>
              </a:rPr>
              <a:t>並行・TDD・AC の ID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5040" y="2514600"/>
            <a:ext cx="228600" cy="0"/>
          </a:xfrm>
          <a:prstGeom prst="line">
            <a:avLst/>
          </a:prstGeom>
          <a:ln w="28575">
            <a:solidFill>
              <a:srgbClr val="1B2A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63640" y="1828800"/>
            <a:ext cx="1737360" cy="1371600"/>
          </a:xfrm>
          <a:prstGeom prst="roundRect">
            <a:avLst/>
          </a:prstGeom>
          <a:solidFill>
            <a:srgbClr val="22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eiryo UI"/>
                <a:ea typeface="Meiryo UI"/>
              </a:rPr>
              <a:t>④ MR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Meiryo UI"/>
                <a:ea typeface="Meiryo UI"/>
              </a:rPr>
              <a:t>パイプライン・危険の検査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01000" y="2514600"/>
            <a:ext cx="228600" cy="0"/>
          </a:xfrm>
          <a:prstGeom prst="line">
            <a:avLst/>
          </a:prstGeom>
          <a:ln w="28575">
            <a:solidFill>
              <a:srgbClr val="1B2A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0" y="1828800"/>
            <a:ext cx="1737360" cy="1371600"/>
          </a:xfrm>
          <a:prstGeom prst="roundRect">
            <a:avLst/>
          </a:prstGeom>
          <a:solidFill>
            <a:srgbClr val="22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eiryo UI"/>
                <a:ea typeface="Meiryo UI"/>
              </a:rPr>
              <a:t>⑤ マージ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Meiryo UI"/>
                <a:ea typeface="Meiryo UI"/>
              </a:rPr>
              <a:t>キュー・自動マージ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966959" y="2514600"/>
            <a:ext cx="228600" cy="0"/>
          </a:xfrm>
          <a:prstGeom prst="line">
            <a:avLst/>
          </a:prstGeom>
          <a:ln w="28575">
            <a:solidFill>
              <a:srgbClr val="1B2A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195560" y="1828800"/>
            <a:ext cx="1737360" cy="1371600"/>
          </a:xfrm>
          <a:prstGeom prst="roundRect">
            <a:avLst/>
          </a:prstGeom>
          <a:solidFill>
            <a:srgbClr val="22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eiryo UI"/>
                <a:ea typeface="Meiryo UI"/>
              </a:rPr>
              <a:t>⑥ 本番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Meiryo UI"/>
                <a:ea typeface="Meiryo UI"/>
              </a:rPr>
              <a:t>デプロイ・リリース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47472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7A45"/>
                </a:solidFill>
                <a:latin typeface="Meiryo UI"/>
                <a:ea typeface="Meiryo UI"/>
              </a:rPr>
              <a:t>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25196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B2A44"/>
                </a:solidFill>
                <a:latin typeface="Meiryo UI"/>
                <a:ea typeface="Meiryo UI"/>
              </a:rPr>
              <a:t>計画の承認</a:t>
            </a:r>
          </a:p>
        </p:txBody>
      </p:sp>
      <p:sp>
        <p:nvSpPr>
          <p:cNvPr id="19" name="Oval 18"/>
          <p:cNvSpPr/>
          <p:nvPr/>
        </p:nvSpPr>
        <p:spPr>
          <a:xfrm>
            <a:off x="6766559" y="347472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7A45"/>
                </a:solidFill>
                <a:latin typeface="Meiryo UI"/>
                <a:ea typeface="Meiryo UI"/>
              </a:rPr>
              <a:t>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25196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B2A44"/>
                </a:solidFill>
                <a:latin typeface="Meiryo UI"/>
                <a:ea typeface="Meiryo UI"/>
              </a:rPr>
              <a:t>stop の解除</a:t>
            </a:r>
          </a:p>
        </p:txBody>
      </p:sp>
      <p:sp>
        <p:nvSpPr>
          <p:cNvPr id="21" name="Oval 20"/>
          <p:cNvSpPr/>
          <p:nvPr/>
        </p:nvSpPr>
        <p:spPr>
          <a:xfrm>
            <a:off x="8732519" y="347472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7A45"/>
                </a:solidFill>
                <a:latin typeface="Meiryo UI"/>
                <a:ea typeface="Meiryo UI"/>
              </a:rPr>
              <a:t>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25196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B2A44"/>
                </a:solidFill>
                <a:latin typeface="Meiryo UI"/>
                <a:ea typeface="Meiryo UI"/>
              </a:rPr>
              <a:t>PO の完了の確定</a:t>
            </a:r>
          </a:p>
        </p:txBody>
      </p:sp>
      <p:sp>
        <p:nvSpPr>
          <p:cNvPr id="23" name="Oval 22"/>
          <p:cNvSpPr/>
          <p:nvPr/>
        </p:nvSpPr>
        <p:spPr>
          <a:xfrm>
            <a:off x="10698480" y="347472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7A45"/>
                </a:solidFill>
                <a:latin typeface="Meiryo UI"/>
                <a:ea typeface="Meiryo UI"/>
              </a:rPr>
              <a:t>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425196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B2A44"/>
                </a:solidFill>
                <a:latin typeface="Meiryo UI"/>
                <a:ea typeface="Meiryo UI"/>
              </a:rPr>
              <a:t>本番の承認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65760" y="484632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68680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自動マージの方式</a:t>
                      </a:r>
                    </a:p>
                  </a:txBody>
                  <a:tcPr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動き</a:t>
                      </a:r>
                    </a:p>
                  </a:txBody>
                  <a:tcPr>
                    <a:solidFill>
                      <a:srgbClr val="1B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off / reserve（既定）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自動マージしない / 人が予約し、CI が緑でマージ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conditional / 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AI の仕様照合の承認で自動（conditional は保護するパスだけ人）。危険（stop）はどの方式でも人を待つ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eiryo UI"/>
                <a:ea typeface="Meiryo UI"/>
              </a:rPr>
              <a:t>複数人・複数 AI の並行開発</a:t>
            </a:r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3716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575"/>
                </a:solidFill>
                <a:latin typeface="Meiryo UI"/>
                <a:ea typeface="Meiryo UI"/>
              </a:rPr>
              <a:t>取り合いと衝突を 3 段で防ぐ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365760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B2A44"/>
                </a:solidFill>
                <a:latin typeface="Meiryo UI"/>
                <a:ea typeface="Meiryo UI"/>
              </a:rPr>
              <a:t>① タスクの単位（K5 実装済み）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4"/>
                </a:solidFill>
                <a:latin typeface="Meiryo UI"/>
                <a:ea typeface="Meiryo UI"/>
              </a:rPr>
              <a:t>・作業の宣言: 誰が・どのセッション・どのブランチ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4"/>
                </a:solidFill>
                <a:latin typeface="Meiryo UI"/>
                <a:ea typeface="Meiryo UI"/>
              </a:rPr>
              <a:t>・別の人の宣言中は 409 で拒否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4"/>
                </a:solidFill>
                <a:latin typeface="Meiryo UI"/>
                <a:ea typeface="Meiryo UI"/>
              </a:rPr>
              <a:t>・生存確認がないと 4 時間で失効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4"/>
                </a:solidFill>
                <a:latin typeface="Meiryo UI"/>
                <a:ea typeface="Meiryo UI"/>
              </a:rPr>
              <a:t>・PO / SM は解除できる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4"/>
                </a:solidFill>
                <a:latin typeface="Meiryo UI"/>
                <a:ea typeface="Meiryo UI"/>
              </a:rPr>
              <a:t>・次: ボードに「作業中」（W3）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645920"/>
            <a:ext cx="365760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B2A44"/>
                </a:solidFill>
                <a:latin typeface="Meiryo UI"/>
                <a:ea typeface="Meiryo UI"/>
              </a:rPr>
              <a:t>② ファイルの単位（W4）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4"/>
                </a:solidFill>
                <a:latin typeface="Meiryo UI"/>
                <a:ea typeface="Meiryo UI"/>
              </a:rPr>
              <a:t>・計画時に「触る範囲」を登録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4"/>
                </a:solidFill>
                <a:latin typeface="Meiryo UI"/>
                <a:ea typeface="Meiryo UI"/>
              </a:rPr>
              <a:t>・重なる作業を作り始める前に通知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4"/>
                </a:solidFill>
                <a:latin typeface="Meiryo UI"/>
                <a:ea typeface="Meiryo UI"/>
              </a:rPr>
              <a:t>・push 時に実際の差分と比較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4"/>
                </a:solidFill>
                <a:latin typeface="Meiryo UI"/>
                <a:ea typeface="Meiryo UI"/>
              </a:rPr>
              <a:t>・宣言の外は警告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645920"/>
            <a:ext cx="365760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B2A44"/>
                </a:solidFill>
                <a:latin typeface="Meiryo UI"/>
                <a:ea typeface="Meiryo UI"/>
              </a:rPr>
              <a:t>③ マージの単位（M4）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4"/>
                </a:solidFill>
                <a:latin typeface="Meiryo UI"/>
                <a:ea typeface="Meiryo UI"/>
              </a:rPr>
              <a:t>・マージキュー: 先の MR を含めた結果で検査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4"/>
                </a:solidFill>
                <a:latin typeface="Meiryo UI"/>
                <a:ea typeface="Meiryo UI"/>
              </a:rPr>
              <a:t>・組み合わせで壊れる変更を止める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4"/>
                </a:solidFill>
                <a:latin typeface="Meiryo UI"/>
                <a:ea typeface="Meiryo UI"/>
              </a:rPr>
              <a:t>・衝突は AI が解消案 → 人が承認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76072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575"/>
                </a:solidFill>
                <a:latin typeface="Meiryo UI"/>
                <a:ea typeface="Meiryo UI"/>
              </a:rPr>
              <a:t>TMUX 版: リーダー 1 + 作業者 n、作業者ごとに worktree と作業の宣言。Ver2: 1 セッションで少ないコンテキスト。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eiryo UI"/>
                <a:ea typeface="Meiryo UI"/>
              </a:rPr>
              <a:t>品質と安全の仕組み（多層の防御）</a:t>
            </a:r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37160"/>
            <a:ext cx="640080" cy="6400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3000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7680960"/>
                <a:gridCol w="1645920"/>
              </a:tblGrid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層</a:t>
                      </a:r>
                    </a:p>
                  </a:txBody>
                  <a:tcPr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仕組み</a:t>
                      </a:r>
                    </a:p>
                  </a:txBody>
                  <a:tcPr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状態</a:t>
                      </a:r>
                    </a:p>
                  </a:txBody>
                  <a:tcPr>
                    <a:solidFill>
                      <a:srgbClr val="1B2A4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エラーの契約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すべての失敗に FG コード（原因・診断・直し方・手順書・テスト）。利用者には user_message と request_id だけ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稼働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権限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authorize() の 1 か所で判断。全ルートが許可・拒否の行を持つ表に載る。証明がないとハンドラに届かない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稼働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握りつぶしの禁止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Result を捨てない・本番で panic しない・外部呼び出しにタイムアウト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規則とレビュー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存在の漏れの防止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無い・削除済み・見えないパスは同じ応答、同じ問い合わせの形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phase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独立レビュー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作る AI と評価する AI を分ける。見逃しは eval に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運用中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ゲート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fmt・clippy・テスト・目録・権限の表・i18n を AI より先に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CI は W2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マージの安全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マージキュー・危険の検査・本番は人の承認・revert の下書き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M4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eiryo UI"/>
                <a:ea typeface="Meiryo UI"/>
              </a:rPr>
              <a:t>フィードバックの輪を Kanflow に移す（W11）</a:t>
            </a:r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3716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575"/>
                </a:solidFill>
                <a:latin typeface="Meiryo UI"/>
                <a:ea typeface="Meiryo UI"/>
              </a:rPr>
              <a:t>今は各エージェントモデルの手元にある記録と処理を、Kanflow のサーバーに。チームとプロジェクトをまたいで再発を防ぐ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2377440" cy="2743200"/>
          </a:xfrm>
          <a:prstGeom prst="roundRect">
            <a:avLst/>
          </a:prstGeom>
          <a:solidFill>
            <a:srgbClr val="1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eiryo UI"/>
                <a:ea typeface="Meiryo UI"/>
              </a:rPr>
              <a:t>送り手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eiryo UI"/>
                <a:ea typeface="Meiryo UI"/>
              </a:rPr>
              <a:t>・AI セッション（窓口）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eiryo UI"/>
                <a:ea typeface="Meiryo UI"/>
              </a:rPr>
              <a:t>・CI の失敗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eiryo UI"/>
                <a:ea typeface="Meiryo UI"/>
              </a:rPr>
              <a:t>・GitStation（M3〜）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82880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B2A44"/>
                </a:solidFill>
                <a:latin typeface="Meiryo UI"/>
                <a:ea typeface="Meiryo UI"/>
              </a:rPr>
              <a:t>1 照合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1B2A44"/>
                </a:solidFill>
                <a:latin typeface="Meiryo UI"/>
                <a:ea typeface="Meiryo UI"/>
              </a:rPr>
              <a:t>署名→教訓を返す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B2A44"/>
                </a:solidFill>
                <a:latin typeface="Meiryo UI"/>
                <a:ea typeface="Meiryo UI"/>
              </a:rPr>
              <a:t>2 下書き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1B2A44"/>
                </a:solidFill>
                <a:latin typeface="Meiryo UI"/>
                <a:ea typeface="Meiryo UI"/>
              </a:rPr>
              <a:t>失敗→変更→成功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82880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B2A44"/>
                </a:solidFill>
                <a:latin typeface="Meiryo UI"/>
                <a:ea typeface="Meiryo UI"/>
              </a:rPr>
              <a:t>3 確認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1B2A44"/>
                </a:solidFill>
                <a:latin typeface="Meiryo UI"/>
                <a:ea typeface="Meiryo UI"/>
              </a:rPr>
              <a:t>Maintainer / SM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393192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B2A44"/>
                </a:solidFill>
                <a:latin typeface="Meiryo UI"/>
                <a:ea typeface="Meiryo UI"/>
              </a:rPr>
              <a:t>4 仕組みに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1B2A44"/>
                </a:solidFill>
                <a:latin typeface="Meiryo UI"/>
                <a:ea typeface="Meiryo UI"/>
              </a:rPr>
              <a:t>3 回超で再発防止 PBI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B2A44"/>
                </a:solidFill>
                <a:latin typeface="Meiryo UI"/>
                <a:ea typeface="Meiryo UI"/>
              </a:rPr>
              <a:t>5 測る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1B2A44"/>
                </a:solidFill>
                <a:latin typeface="Meiryo UI"/>
                <a:ea typeface="Meiryo UI"/>
              </a:rPr>
              <a:t>再発率・時間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393192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B2A44"/>
                </a:solidFill>
                <a:latin typeface="Meiryo UI"/>
                <a:ea typeface="Meiryo UI"/>
              </a:rPr>
              <a:t>6 要約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1B2A44"/>
                </a:solidFill>
                <a:latin typeface="Meiryo UI"/>
                <a:ea typeface="Meiryo UI"/>
              </a:rPr>
              <a:t>ローカル LLM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743200" y="2560320"/>
            <a:ext cx="548640" cy="182880"/>
          </a:xfrm>
          <a:prstGeom prst="line">
            <a:avLst/>
          </a:prstGeom>
          <a:ln w="28575">
            <a:solidFill>
              <a:srgbClr val="FF7A4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852160" y="2514600"/>
            <a:ext cx="274320" cy="0"/>
          </a:xfrm>
          <a:prstGeom prst="line">
            <a:avLst/>
          </a:prstGeom>
          <a:ln w="28575">
            <a:solidFill>
              <a:srgbClr val="FF7A4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86800" y="2514600"/>
            <a:ext cx="274320" cy="0"/>
          </a:xfrm>
          <a:prstGeom prst="line">
            <a:avLst/>
          </a:prstGeom>
          <a:ln w="28575">
            <a:solidFill>
              <a:srgbClr val="FF7A4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3200400"/>
            <a:ext cx="0" cy="731520"/>
          </a:xfrm>
          <a:prstGeom prst="line">
            <a:avLst/>
          </a:prstGeom>
          <a:ln w="28575">
            <a:solidFill>
              <a:srgbClr val="FF7A4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686800" y="4617720"/>
            <a:ext cx="274320" cy="0"/>
          </a:xfrm>
          <a:prstGeom prst="line">
            <a:avLst/>
          </a:prstGeom>
          <a:ln w="28575">
            <a:solidFill>
              <a:srgbClr val="FF7A4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852160" y="4617720"/>
            <a:ext cx="274320" cy="0"/>
          </a:xfrm>
          <a:prstGeom prst="line">
            <a:avLst/>
          </a:prstGeom>
          <a:ln w="28575">
            <a:solidFill>
              <a:srgbClr val="FF7A4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5760" y="5577840"/>
            <a:ext cx="11430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575"/>
                </a:solidFill>
                <a:latin typeface="Meiryo UI"/>
                <a:ea typeface="Meiryo UI"/>
              </a:rPr>
              <a:t>エージェントモデルは知識を持たない薄い窓口（送る前に秘密・パスを伏せる）。確認済みだけを他プロジェクトへ。機密の印は Claude に返さない。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575"/>
                </a:solidFill>
                <a:latin typeface="Meiryo UI"/>
                <a:ea typeface="Meiryo UI"/>
              </a:rPr>
              <a:t>GitStation のエラーの目録は正のまま、教訓は FG コードでリンク。今の mistake-memory は取り込んで廃止。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eiryo UI"/>
                <a:ea typeface="Meiryo UI"/>
              </a:rPr>
              <a:t>エージェントモデルの役割と切り替え</a:t>
            </a:r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37160"/>
            <a:ext cx="640080" cy="6400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300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035040"/>
                <a:gridCol w="2834640"/>
              </a:tblGrid>
              <a:tr h="5029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モデル</a:t>
                      </a:r>
                    </a:p>
                  </a:txBody>
                  <a:tcPr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使う場面</a:t>
                      </a:r>
                    </a:p>
                  </a:txBody>
                  <a:tcPr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状態</a:t>
                      </a:r>
                    </a:p>
                  </a:txBody>
                  <a:tcPr>
                    <a:solidFill>
                      <a:srgbClr val="1B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旧 Agent_Claudecode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いまの開発（連携ができるまで）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現役・不具合の修正だけ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TMUX 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大きな機能・複数 PBI を複数セッションで並行して速く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準備中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Ver2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1 つの PBI・小さな修正を 1 セッションで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準備中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GitStation_Agent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GitStation 自体の開発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現役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4023360"/>
            <a:ext cx="55778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2A44"/>
                </a:solidFill>
                <a:latin typeface="Meiryo UI"/>
                <a:ea typeface="Meiryo UI"/>
              </a:rPr>
              <a:t>共通プラグイン ymma-dev-core（W1）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A44"/>
                </a:solidFill>
                <a:latin typeface="Meiryo UI"/>
                <a:ea typeface="Meiryo UI"/>
              </a:rPr>
              <a:t>・Kanflow 連携・作業の宣言・レビュー・git の規則・フック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A44"/>
                </a:solidFill>
                <a:latin typeface="Meiryo UI"/>
                <a:ea typeface="Meiryo UI"/>
              </a:rPr>
              <a:t>・semver、beta → stable の 2 段で配布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A44"/>
                </a:solidFill>
                <a:latin typeface="Meiryo UI"/>
                <a:ea typeface="Meiryo UI"/>
              </a:rPr>
              <a:t>・食い違いはゲートで赤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5778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2A44"/>
                </a:solidFill>
                <a:latin typeface="Meiryo UI"/>
                <a:ea typeface="Meiryo UI"/>
              </a:rPr>
              <a:t>切り替えの条件と手順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A44"/>
                </a:solidFill>
                <a:latin typeface="Meiryo UI"/>
                <a:ea typeface="Meiryo UI"/>
              </a:rPr>
              <a:t>・GitStation で clone / push と MR ができる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A44"/>
                </a:solidFill>
                <a:latin typeface="Meiryo UI"/>
                <a:ea typeface="Meiryo UI"/>
              </a:rPr>
              <a:t>・Kanflow 連携の第 0 段が実環境で動く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A44"/>
                </a:solidFill>
                <a:latin typeface="Meiryo UI"/>
                <a:ea typeface="Meiryo UI"/>
              </a:rPr>
              <a:t>・1 チーム 1 スプリント試行 → 全体を切り替え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eiryo UI"/>
                <a:ea typeface="Meiryo UI"/>
              </a:rPr>
              <a:t>現在の進み具合（2026-10-31）</a:t>
            </a:r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37160"/>
            <a:ext cx="640080" cy="6400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3000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645920"/>
                <a:gridCol w="6858000"/>
              </a:tblGrid>
              <a:tr h="548639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対象</a:t>
                      </a:r>
                    </a:p>
                  </a:txBody>
                  <a:tcPr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進み具合</a:t>
                      </a:r>
                    </a:p>
                  </a:txBody>
                  <a:tcPr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中身</a:t>
                      </a:r>
                    </a:p>
                  </a:txBody>
                  <a:tcPr>
                    <a:solidFill>
                      <a:srgbClr val="1B2A44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GitStation M1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約 70%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D1〜D4、phase 8 MR1〜MR3 統合。MR4 は修正待ち。次は MR5 ∥ phase 9（clone / push）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GitStation 全体（M1〜M8）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約 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Rust 約 5.7 万行（テスト約 52%）、テスト 868 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Kanflow 製品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ほぼ完成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TypeScript 約 22 万行、テスト 8413 件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Kanflow 連携 第 0 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約 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MCP 25 道具、K1〜K5（PBI 検出・取りこぼし修正・DevSource・dev:write）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エージェントモデル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連携済み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TMUX 版 / Ver2 に Kanflow の MCP・作業の宣言を組み込み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eiryo UI"/>
                <a:ea typeface="Meiryo UI"/>
              </a:rPr>
              <a:t>ロードマップ（計画 07）</a:t>
            </a:r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3716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575"/>
                </a:solidFill>
                <a:latin typeface="Meiryo UI"/>
                <a:ea typeface="Meiryo UI"/>
              </a:rPr>
              <a:t>第 0〜1 段は GitLab のままでも進められる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B2A44"/>
                </a:solidFill>
                <a:latin typeface="Meiryo UI"/>
                <a:ea typeface="Meiryo UI"/>
              </a:rPr>
              <a:t>第 0 段（1〜2 週）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94560"/>
            <a:ext cx="3657600" cy="685800"/>
          </a:xfrm>
          <a:prstGeom prst="roundRect">
            <a:avLst/>
          </a:prstGeom>
          <a:solidFill>
            <a:srgbClr val="22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eiryo UI"/>
                <a:ea typeface="Meiryo UI"/>
              </a:rPr>
              <a:t>W1 エージェントモデルの一本化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017520"/>
            <a:ext cx="3657600" cy="685800"/>
          </a:xfrm>
          <a:prstGeom prst="roundRect">
            <a:avLst/>
          </a:prstGeom>
          <a:solidFill>
            <a:srgbClr val="22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eiryo UI"/>
                <a:ea typeface="Meiryo UI"/>
              </a:rPr>
              <a:t>W2 両製品の 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840480"/>
            <a:ext cx="3657600" cy="685800"/>
          </a:xfrm>
          <a:prstGeom prst="roundRect">
            <a:avLst/>
          </a:prstGeom>
          <a:solidFill>
            <a:srgbClr val="22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eiryo UI"/>
                <a:ea typeface="Meiryo UI"/>
              </a:rPr>
              <a:t>W3 作業中の表示・宣言の自動化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663440"/>
            <a:ext cx="3657600" cy="685800"/>
          </a:xfrm>
          <a:prstGeom prst="roundRect">
            <a:avLst/>
          </a:prstGeom>
          <a:solidFill>
            <a:srgbClr val="22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eiryo UI"/>
                <a:ea typeface="Meiryo UI"/>
              </a:rPr>
              <a:t>W6 引き継ぎの自動化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5486400"/>
            <a:ext cx="3657600" cy="685800"/>
          </a:xfrm>
          <a:prstGeom prst="roundRect">
            <a:avLst/>
          </a:prstGeom>
          <a:solidFill>
            <a:srgbClr val="22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eiryo UI"/>
                <a:ea typeface="Meiryo UI"/>
              </a:rPr>
              <a:t>W7 レビューの規則と費用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64592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B2A44"/>
                </a:solidFill>
                <a:latin typeface="Meiryo UI"/>
                <a:ea typeface="Meiryo UI"/>
              </a:rPr>
              <a:t>第 1 段（2〜4 週）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194560"/>
            <a:ext cx="3657600" cy="685800"/>
          </a:xfrm>
          <a:prstGeom prst="roundRect">
            <a:avLst/>
          </a:prstGeom>
          <a:solidFill>
            <a:srgbClr val="1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eiryo UI"/>
                <a:ea typeface="Meiryo UI"/>
              </a:rPr>
              <a:t>W4 触る範囲と衝突の予測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017520"/>
            <a:ext cx="3657600" cy="685800"/>
          </a:xfrm>
          <a:prstGeom prst="roundRect">
            <a:avLst/>
          </a:prstGeom>
          <a:solidFill>
            <a:srgbClr val="1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eiryo UI"/>
                <a:ea typeface="Meiryo UI"/>
              </a:rPr>
              <a:t>W5 受入基準の ID とテスト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3840480"/>
            <a:ext cx="3657600" cy="685800"/>
          </a:xfrm>
          <a:prstGeom prst="roundRect">
            <a:avLst/>
          </a:prstGeom>
          <a:solidFill>
            <a:srgbClr val="1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eiryo UI"/>
                <a:ea typeface="Meiryo UI"/>
              </a:rPr>
              <a:t>W11 フィードバックの輪を Kanflow 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4663440"/>
            <a:ext cx="3657600" cy="685800"/>
          </a:xfrm>
          <a:prstGeom prst="roundRect">
            <a:avLst/>
          </a:prstGeom>
          <a:solidFill>
            <a:srgbClr val="1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eiryo UI"/>
                <a:ea typeface="Meiryo UI"/>
              </a:rPr>
              <a:t>指標の測定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64592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B2A44"/>
                </a:solidFill>
                <a:latin typeface="Meiryo UI"/>
                <a:ea typeface="Meiryo UI"/>
              </a:rPr>
              <a:t>第 2 段（M3〜M4）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194560"/>
            <a:ext cx="3657600" cy="685800"/>
          </a:xfrm>
          <a:prstGeom prst="roundRect">
            <a:avLst/>
          </a:prstGeom>
          <a:solidFill>
            <a:srgbClr val="5B6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eiryo UI"/>
                <a:ea typeface="Meiryo UI"/>
              </a:rPr>
              <a:t>W8 PBI→本番の 1 本の流れ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017520"/>
            <a:ext cx="3657600" cy="685800"/>
          </a:xfrm>
          <a:prstGeom prst="roundRect">
            <a:avLst/>
          </a:prstGeom>
          <a:solidFill>
            <a:srgbClr val="5B6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eiryo UI"/>
                <a:ea typeface="Meiryo UI"/>
              </a:rPr>
              <a:t>W9 ポーリング→イベント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840480"/>
            <a:ext cx="3657600" cy="685800"/>
          </a:xfrm>
          <a:prstGeom prst="roundRect">
            <a:avLst/>
          </a:prstGeom>
          <a:solidFill>
            <a:srgbClr val="5B6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eiryo UI"/>
                <a:ea typeface="Meiryo UI"/>
              </a:rPr>
              <a:t>W10 定型作業をローカル LLM 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663440"/>
            <a:ext cx="3657600" cy="685800"/>
          </a:xfrm>
          <a:prstGeom prst="roundRect">
            <a:avLst/>
          </a:prstGeom>
          <a:solidFill>
            <a:srgbClr val="5B6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eiryo UI"/>
                <a:ea typeface="Meiryo UI"/>
              </a:rPr>
              <a:t>旧版 → TMUX 版 / Ver2 へ切り替え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eiryo UI"/>
                <a:ea typeface="Meiryo UI"/>
              </a:rPr>
              <a:t>目標（測るもの）</a:t>
            </a:r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37160"/>
            <a:ext cx="640080" cy="6400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502920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指標</a:t>
                      </a:r>
                    </a:p>
                  </a:txBody>
                  <a:tcPr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目標</a:t>
                      </a:r>
                    </a:p>
                  </a:txBody>
                  <a:tcPr>
                    <a:solidFill>
                      <a:srgbClr val="1B2A4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PBI の着手から MR まで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測定を始め、中央値を半分に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並行作業の衝突による手戻り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MR 10 件あたり 1 件以下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同じエラーの再発（プロジェクトをまたいで）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確認済みの教訓がある失敗で 0 件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マージ後に見つかった欠陥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0 を目標（見つかったら eval に）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main が赤い時間 / 未検証の統合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0 / 0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1 MR あたりの AI レビュー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2〜3 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新しい開発者の最初の MR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4"/>
                          </a:solidFill>
                          <a:latin typeface="Meiryo UI"/>
                          <a:ea typeface="Meiryo UI"/>
                        </a:rPr>
                        <a:t>1 日以内</a:t>
                      </a:r>
                    </a:p>
                  </a:txBody>
                  <a:tcPr>
                    <a:solidFill>
                      <a:srgbClr val="F4FB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eiryo UI"/>
                <a:ea typeface="Meiryo UI"/>
              </a:rPr>
              <a:t>決めたことと次にやること</a:t>
            </a:r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37160"/>
            <a:ext cx="640080" cy="640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1371600"/>
            <a:ext cx="5577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2A44"/>
                </a:solidFill>
                <a:latin typeface="Meiryo UI"/>
                <a:ea typeface="Meiryo UI"/>
              </a:rPr>
              <a:t>決めたこと（推奨案）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A44"/>
                </a:solidFill>
                <a:latin typeface="Meiryo UI"/>
                <a:ea typeface="Meiryo UI"/>
              </a:rPr>
              <a:t>・共通部分はプラグインで配る（最初は GitHub、後に GitStation）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A44"/>
                </a:solidFill>
                <a:latin typeface="Meiryo UI"/>
                <a:ea typeface="Meiryo UI"/>
              </a:rPr>
              <a:t>・旧版は全体ができるまで使い、その後 TMUX 版 / Ver2 へ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A44"/>
                </a:solidFill>
                <a:latin typeface="Meiryo UI"/>
                <a:ea typeface="Meiryo UI"/>
              </a:rPr>
              <a:t>・CI はいま GitHub Actions、GitStation の CI ができたら移す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A44"/>
                </a:solidFill>
                <a:latin typeface="Meiryo UI"/>
                <a:ea typeface="Meiryo UI"/>
              </a:rPr>
              <a:t>・作業の宣言はセッション開始で自動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A44"/>
                </a:solidFill>
                <a:latin typeface="Meiryo UI"/>
                <a:ea typeface="Meiryo UI"/>
              </a:rPr>
              <a:t>・フィードバックの輪は Kanflow のサーバーの機能に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577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2A44"/>
                </a:solidFill>
                <a:latin typeface="Meiryo UI"/>
                <a:ea typeface="Meiryo UI"/>
              </a:rPr>
              <a:t>次にやること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A44"/>
                </a:solidFill>
                <a:latin typeface="Meiryo UI"/>
                <a:ea typeface="Meiryo UI"/>
              </a:rPr>
              <a:t>・① GitStation MR4 の指摘を直して統合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A44"/>
                </a:solidFill>
                <a:latin typeface="Meiryo UI"/>
                <a:ea typeface="Meiryo UI"/>
              </a:rPr>
              <a:t>・② 不安定なテストの修正を検証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A44"/>
                </a:solidFill>
                <a:latin typeface="Meiryo UI"/>
                <a:ea typeface="Meiryo UI"/>
              </a:rPr>
              <a:t>・③ MR5 ∥ phase 9（clone / push）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A44"/>
                </a:solidFill>
                <a:latin typeface="Meiryo UI"/>
                <a:ea typeface="Meiryo UI"/>
              </a:rPr>
              <a:t>・④ 計画 07 第 0 段: W1（core）と W2（CI）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A44"/>
                </a:solidFill>
                <a:latin typeface="Meiryo UI"/>
                <a:ea typeface="Meiryo UI"/>
              </a:rPr>
              <a:t>・⑤ Kanflow の DB テストと E2E を CI 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